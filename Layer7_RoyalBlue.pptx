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 Share (%)</c:v>
                </c:pt>
              </c:strCache>
            </c:strRef>
          </c:tx>
          <c:spPr>
            <a:solidFill>
              <a:srgbClr val="4C6A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SSH / Remote File</c:v>
                  </c:pt>
                  <c:pt idx="1">
                    <c:v>SMTP / Mail</c:v>
                  </c:pt>
                  <c:pt idx="2">
                    <c:v>DNS &amp; Directory</c:v>
                  </c:pt>
                  <c:pt idx="3">
                    <c:v>HTTPS (Port 443)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35</c:v>
                </c:pt>
                <c:pt idx="2">
                  <c:v>58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C8C"/>
        </a:solidFill>
        <a:ln>
          <a:noFill/>
        </a:ln>
        <a:effectLst/>
      </c:spPr>
    </c:plotArea>
    <c:plotVisOnly val="1"/>
    <c:dispBlanksAs val="span"/>
  </c:chart>
  <c:spPr>
    <a:solidFill>
      <a:srgbClr val="1B2C8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4C6AFF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1481328"/>
            <a:ext cx="2139696" cy="457200"/>
          </a:xfrm>
          <a:prstGeom prst="roundRect">
            <a:avLst>
              <a:gd name="adj" fmla="val 16000"/>
            </a:avLst>
          </a:prstGeom>
          <a:solidFill>
            <a:srgbClr val="3B57D6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2048256"/>
            <a:ext cx="1993392" cy="457200"/>
          </a:xfrm>
          <a:prstGeom prst="roundRect">
            <a:avLst>
              <a:gd name="adj" fmla="val 16000"/>
            </a:avLst>
          </a:prstGeom>
          <a:solidFill>
            <a:srgbClr val="3452C4">
              <a:alpha val="9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2615184"/>
            <a:ext cx="1847088" cy="457200"/>
          </a:xfrm>
          <a:prstGeom prst="roundRect">
            <a:avLst>
              <a:gd name="adj" fmla="val 16000"/>
            </a:avLst>
          </a:prstGeom>
          <a:solidFill>
            <a:srgbClr val="F2B705">
              <a:alpha val="9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3182112"/>
            <a:ext cx="1700784" cy="457200"/>
          </a:xfrm>
          <a:prstGeom prst="roundRect">
            <a:avLst>
              <a:gd name="adj" fmla="val 16000"/>
            </a:avLst>
          </a:prstGeom>
          <a:solidFill>
            <a:srgbClr val="4C6AFF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37490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3B57D6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0" y="4315968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F2B705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91640"/>
            <a:ext cx="3383280" cy="411480"/>
          </a:xfrm>
          <a:prstGeom prst="roundRect">
            <a:avLst>
              <a:gd name="adj" fmla="val 48889"/>
            </a:avLst>
          </a:prstGeom>
          <a:solidFill>
            <a:srgbClr val="263AA8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ARCHITECTURE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2860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7: Application Layer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337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Gateway Between End-User Software Applications and Network Communications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4251960"/>
            <a:ext cx="1280160" cy="0"/>
          </a:xfrm>
          <a:prstGeom prst="line">
            <a:avLst/>
          </a:prstGeom>
          <a:noFill/>
          <a:ln w="38100">
            <a:solidFill>
              <a:srgbClr val="F2B70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Layer 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3108960" cy="3108960"/>
          </a:xfrm>
          <a:prstGeom prst="ellipse">
            <a:avLst/>
          </a:prstGeom>
          <a:solidFill>
            <a:srgbClr val="263AA8"/>
          </a:solidFill>
          <a:ln w="19050">
            <a:solidFill>
              <a:srgbClr val="4C6AFF"/>
            </a:solidFill>
            <a:prstDash val="solid"/>
          </a:ln>
        </p:spPr>
      </p:sp>
      <p:pic>
        <p:nvPicPr>
          <p:cNvPr id="4" name="Image 0" descr="/home/claude/osi/icon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6974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4632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TOPMOST OSI LAYER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22860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Layer serves as the direct interface for end-user applications to access network services. Unlike software programs themselves, Layer 7 provides the standardized protocols that enable software to send and receive data across networks.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37490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translates user requests into protocol-compliant network transmissions, ensuring inter-operability across disparate operating systems and device hardware.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Layer 7 Functions</a:t>
            </a:r>
            <a:endParaRPr lang="en-US" sz="3000" dirty="0"/>
          </a:p>
        </p:txBody>
      </p:sp>
      <p:pic>
        <p:nvPicPr>
          <p:cNvPr id="3" name="Image 0" descr="/home/claude/osi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755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Identification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212140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availability and identity of communication partners for an intended data exchange.</a:t>
            </a:r>
            <a:endParaRPr lang="en-US" sz="1250" dirty="0"/>
          </a:p>
        </p:txBody>
      </p:sp>
      <p:pic>
        <p:nvPicPr>
          <p:cNvPr id="6" name="Image 1" descr="/home/claude/osi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05840" y="2807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Availability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005840" y="317296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sufficient network and system resources exist to establish communication.</a:t>
            </a:r>
            <a:endParaRPr lang="en-US" sz="1250" dirty="0"/>
          </a:p>
        </p:txBody>
      </p:sp>
      <p:pic>
        <p:nvPicPr>
          <p:cNvPr id="9" name="Image 2" descr="/home/claude/osi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05840" y="3858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Sync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005840" y="42245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software requests and synchronizes data exchange between endpoints.</a:t>
            </a:r>
            <a:endParaRPr lang="en-US" sz="1250" dirty="0"/>
          </a:p>
        </p:txBody>
      </p:sp>
      <p:pic>
        <p:nvPicPr>
          <p:cNvPr id="12" name="Image 3" descr="/home/claude/osi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8348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05840" y="4910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Abstraction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1005840" y="527608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high-level APIs so application code does not need to handle underlying transport mechanics.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7406640" y="182880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263AA8"/>
          </a:solidFill>
          <a:ln/>
        </p:spPr>
      </p:sp>
      <p:sp>
        <p:nvSpPr>
          <p:cNvPr id="16" name="Shape 10"/>
          <p:cNvSpPr/>
          <p:nvPr/>
        </p:nvSpPr>
        <p:spPr>
          <a:xfrm>
            <a:off x="7772400" y="214884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B2C8C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0" y="2148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Application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9509760" y="2834640"/>
            <a:ext cx="0" cy="4114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7772400" y="324612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2B705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772400" y="3246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Services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509760" y="3931920"/>
            <a:ext cx="0" cy="4114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7772400" y="43434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B2C8C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772400" y="4343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Stack (6-1)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Application Protocols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263AA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1B2C8C"/>
          </a:solidFill>
          <a:ln/>
        </p:spPr>
      </p:sp>
      <p:pic>
        <p:nvPicPr>
          <p:cNvPr id="5" name="Image 0" descr="/home/claude/osi/icon_ht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971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Transfer Protocol governs web communications. HTTPS adds SSL/TLS encryption for secure web browsing and API transactions.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69164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263AA8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9659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1B2C8C"/>
          </a:solidFill>
          <a:ln/>
        </p:spPr>
      </p:sp>
      <p:pic>
        <p:nvPicPr>
          <p:cNvPr id="10" name="Image 1" descr="/home/claude/osi/icon_smt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1122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/ IMAP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200400"/>
            <a:ext cx="2971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Mail Transfer Protocol handles outbound email routing, while IMAP/POP3 manages inbound mailbox access and folder sync.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169164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263AA8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196596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1B2C8C"/>
          </a:solidFill>
          <a:ln/>
        </p:spPr>
      </p:sp>
      <p:pic>
        <p:nvPicPr>
          <p:cNvPr id="15" name="Image 2" descr="/home/claude/osi/icon_ft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1226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/ SFTP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200400"/>
            <a:ext cx="2971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Protocol provides robust client-server file upload and download capabilities, enhanced by SFTP over SSH.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&amp; Name Resolution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DIRECTORY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 System (DNS) operates at Layer 7 to convert human-friendly hostnames (e.g., example.com) into machine-routable IP addresses.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employs a distributed hierarchical database consisting of Root, Top-Level Domain (TLD), and Authoritative nameservers, utilizing UDP port 53 for lightweight queries.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78308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263AA8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0" y="1783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915400" y="2423160"/>
            <a:ext cx="0" cy="3200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17920" y="274320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263AA8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2743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Resolver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915400" y="3383280"/>
            <a:ext cx="0" cy="3200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37033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263AA8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37033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/ TLD / Authoritative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915400" y="4480560"/>
            <a:ext cx="0" cy="3200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480060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2B705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48006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Returned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263AA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1168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1B2C8C"/>
          </a:solidFill>
          <a:ln/>
        </p:spPr>
      </p:sp>
      <p:pic>
        <p:nvPicPr>
          <p:cNvPr id="5" name="Image 0" descr="/home/claude/osi/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67128"/>
            <a:ext cx="374904" cy="374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803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Model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832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model where a designated server hosts resources and listens for incoming requests. Clients initiate communication to retrieve data or execute procedures.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892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 (Nginx, Apache), database services, enterprise email servers.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263AA8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1168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1B2C8C"/>
          </a:solidFill>
          <a:ln/>
        </p:spPr>
      </p:sp>
      <p:pic>
        <p:nvPicPr>
          <p:cNvPr id="11" name="Image 1" descr="/home/claude/osi/icon_p2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16712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92240" y="28803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(P2P) Model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33832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model where nodes act as both resource consumers and providers. Eliminates single points of failure and scales dynamically with peer volume.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4892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BitTorrent file distribution, blockchain networks, InterPlanetary File System (IPFS).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7 Protocol Traffic Share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45920"/>
          <a:ext cx="11064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HTTPS dominates application layer traffic across global enterprise networks, accounting for over 80% of total volume.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Technical Breakdown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2103120"/>
                <a:gridCol w="44805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Role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6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B7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/ HTTPS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/ 443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document delivery &amp; API data transfer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B7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(TCP backup)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name to IP address translation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9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B7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/ 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client IP 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B7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/ SFTP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remote CLI administration &amp; file sync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9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B7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/ 162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7D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device monitoring and metrics 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A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Traffic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4480560" cy="3108960"/>
          </a:xfrm>
          <a:prstGeom prst="roundRect">
            <a:avLst>
              <a:gd name="adj" fmla="val 3529"/>
            </a:avLst>
          </a:prstGeom>
          <a:solidFill>
            <a:srgbClr val="263A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Security Focus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APPLICATION VULNERABILITIES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2377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cyber threats have shifted upward from network layer packets to Layer 7 payload exploits. Distributed Denial of Service (DDoS) and API abuse increasingly target application endpoints directly.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37947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Web Application Firewalls (WAF) at Layer 7 allows organizations to inspect HTTP payloads and block malicious SQL injections, XSS, and bot traffic before reaching backend systems.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263AA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1B2C8C"/>
          </a:solidFill>
          <a:ln/>
        </p:spPr>
      </p:sp>
      <p:pic>
        <p:nvPicPr>
          <p:cNvPr id="5" name="Image 0" descr="/home/claude/osi/icon_appl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57984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Browsing &amp; SaaS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29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browsers use HTTP/3 and WebSocket protocols at Layer 7 to render interactive SaaS applications.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263AA8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20116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1B2C8C"/>
          </a:solidFill>
          <a:ln/>
        </p:spPr>
      </p:sp>
      <p:pic>
        <p:nvPicPr>
          <p:cNvPr id="10" name="Image 1" descr="/home/claude/osi/icon_smt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1579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429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platforms coordinate SMTP relays and IMAP synchronization to deliver global electronic mail.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173736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263AA8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20116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1B2C8C"/>
          </a:solidFill>
          <a:ln/>
        </p:spPr>
      </p:sp>
      <p:pic>
        <p:nvPicPr>
          <p:cNvPr id="15" name="Image 2" descr="/home/claude/osi/icon_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5798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2834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Management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429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Sysadmins rely on SSH and SNMP protocols to remotely execute commands and manage cloud fleets.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Network Layer 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3794760"/>
            <a:ext cx="9784080" cy="0"/>
          </a:xfrm>
          <a:prstGeom prst="line">
            <a:avLst/>
          </a:prstGeom>
          <a:noFill/>
          <a:ln w="25400">
            <a:solidFill>
              <a:srgbClr val="4C6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" y="3694176"/>
            <a:ext cx="201168" cy="201168"/>
          </a:xfrm>
          <a:prstGeom prst="ellipse">
            <a:avLst/>
          </a:prstGeom>
          <a:solidFill>
            <a:srgbClr val="F2B70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605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263AA8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270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6360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standardizes the 7-Layer OSI Reference Model.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9496" y="3694176"/>
            <a:ext cx="201168" cy="201168"/>
          </a:xfrm>
          <a:prstGeom prst="ellipse">
            <a:avLst/>
          </a:prstGeom>
          <a:solidFill>
            <a:srgbClr val="F2B70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1360" y="20574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263AA8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1360" y="2167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98520" y="25328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HTTP/1.0 and DNS revolutionize world wide web growth.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10856" y="3694176"/>
            <a:ext cx="201168" cy="201168"/>
          </a:xfrm>
          <a:prstGeom prst="ellipse">
            <a:avLst/>
          </a:prstGeom>
          <a:solidFill>
            <a:srgbClr val="F2B70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22720" y="41605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263AA8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22720" y="4270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59880" y="46360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encryption becomes mandatory across major browsers.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872216" y="3694176"/>
            <a:ext cx="201168" cy="201168"/>
          </a:xfrm>
          <a:prstGeom prst="ellipse">
            <a:avLst/>
          </a:prstGeom>
          <a:solidFill>
            <a:srgbClr val="F2B70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54312" y="20574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263AA8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54312" y="2167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491472" y="25328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 over QUIC accelerates cloud APIs and edge services.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33375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exploring the Application Layer of the OSI Model.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0560" y="4023360"/>
            <a:ext cx="3200400" cy="502920"/>
          </a:xfrm>
          <a:prstGeom prst="roundRect">
            <a:avLst>
              <a:gd name="adj" fmla="val 49091"/>
            </a:avLst>
          </a:prstGeom>
          <a:solidFill>
            <a:srgbClr val="263AA8"/>
          </a:solidFill>
          <a:ln w="12700">
            <a:solidFill>
              <a:srgbClr val="4C6A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Series  |  Layer 7 Deep Dive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2026-09-17T09:16:52Z</dcterms:created>
  <dcterms:modified xsi:type="dcterms:W3CDTF">2026-09-17T09:16:52Z</dcterms:modified>
</cp:coreProperties>
</file>